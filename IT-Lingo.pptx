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7132320" y="1554480"/>
            <a:ext cx="4023360" cy="4023360"/>
          </a:xfrm>
          <a:prstGeom prst="rect">
            <a:avLst/>
          </a:prstGeom>
          <a:solidFill>
            <a:srgbClr val="E7E6E6"/>
          </a:solidFill>
          <a:ln>
            <a:solidFill>
              <a:srgbClr val="5B9BD5"/>
            </a:solidFill>
          </a:ln>
          <a:effectLst>
            <a:outerShdw blurRad="40000" dist="23000" dir="5400000" rotWithShape="0">
              <a:srgbClr val="000000">
                <a:alpha val="35000"/>
              </a:srgbClr>
            </a:outerShdw>
            <a:softEdge rad="254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1800" b="1" dirty="0">
              <a:solidFill>
                <a:srgbClr val="44546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23889A4-A8E3-D4C9-C758-E190285CE4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848517"/>
            <a:ext cx="4023360" cy="3455003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128016"/>
          </a:xfrm>
          <a:prstGeom prst="rect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D7D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IT-Lingo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585216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Веб-платформа для поэтапного изучения IT</a:t>
            </a:r>
          </a:p>
          <a:p>
            <a:pPr algn="l"/>
            <a:r>
              <a:rPr sz="2400" b="1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 программирования для начинающих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59540"/>
            <a:ext cx="55778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Теория</a:t>
            </a:r>
            <a:r>
              <a:rPr sz="18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8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тесты</a:t>
            </a:r>
            <a:r>
              <a:rPr sz="18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8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практика</a:t>
            </a:r>
            <a:r>
              <a:rPr sz="18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8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достижения</a:t>
            </a:r>
            <a:r>
              <a:rPr sz="18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и </a:t>
            </a:r>
            <a:r>
              <a:rPr sz="18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уровни</a:t>
            </a:r>
            <a:endParaRPr sz="1800" b="0"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sz="18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 </a:t>
            </a:r>
            <a:r>
              <a:rPr sz="18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одном</a:t>
            </a:r>
            <a:r>
              <a:rPr sz="18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понятном</a:t>
            </a:r>
            <a:r>
              <a:rPr sz="18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образовательном</a:t>
            </a:r>
            <a:r>
              <a:rPr sz="18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продукте</a:t>
            </a:r>
            <a:r>
              <a:rPr sz="18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983480"/>
            <a:ext cx="3291840" cy="640080"/>
          </a:xfrm>
          <a:prstGeom prst="roundRect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5072687"/>
            <a:ext cx="2834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Команда</a:t>
            </a:r>
            <a:r>
              <a:rPr sz="24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sz="24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Пафос</a:t>
            </a:r>
            <a:endParaRPr sz="2400" b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4023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IT-Lingo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804672"/>
            <a:ext cx="1280160" cy="109728"/>
          </a:xfrm>
          <a:prstGeom prst="rect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1234440"/>
            <a:ext cx="3657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Состав команды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5212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D7D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Команда IT-Lingo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377439"/>
            <a:ext cx="2560320" cy="1366787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259689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Backend-</a:t>
            </a:r>
            <a:r>
              <a:rPr sz="1600" b="1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разработка</a:t>
            </a:r>
            <a:endParaRPr sz="1600" b="1"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ru-RU" sz="1600" b="1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Фатнев Влад</a:t>
            </a:r>
          </a:p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ru-RU" sz="1600" b="1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Миханов</a:t>
            </a:r>
            <a:r>
              <a:rPr lang="ru-RU" sz="1600" b="1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Александр</a:t>
            </a:r>
          </a:p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ru-RU" sz="1600" b="1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Мавлюкова</a:t>
            </a:r>
            <a:r>
              <a:rPr lang="ru-RU" sz="1600" b="1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Милана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2377440"/>
            <a:ext cx="2560320" cy="1366786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56878" y="2560320"/>
            <a:ext cx="25603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Frontend-</a:t>
            </a:r>
            <a:r>
              <a:rPr sz="1600" b="1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разработка</a:t>
            </a:r>
            <a:endParaRPr sz="1600" b="1"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ru-RU" sz="1600" b="1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Фатнев Влад</a:t>
            </a:r>
          </a:p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ru-RU" sz="1600" b="1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Миханов</a:t>
            </a:r>
            <a:r>
              <a:rPr lang="ru-RU" sz="1600" b="1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Александр</a:t>
            </a:r>
          </a:p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ru-RU" sz="1600" b="1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Мавлюкова</a:t>
            </a:r>
            <a:r>
              <a:rPr lang="ru-RU" sz="1600" b="1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Милана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886200"/>
            <a:ext cx="2560320" cy="1737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85800" y="4069080"/>
            <a:ext cx="25603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UX/UI и </a:t>
            </a:r>
            <a:r>
              <a:rPr sz="1600" b="1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дизайн</a:t>
            </a:r>
            <a:endParaRPr sz="1600" b="1"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ru-RU" sz="1600" b="1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Фатнев Влад</a:t>
            </a:r>
          </a:p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ru-RU" sz="1600" b="1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Миханов</a:t>
            </a:r>
            <a:r>
              <a:rPr lang="ru-RU" sz="1600" b="1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Александр</a:t>
            </a:r>
          </a:p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ru-RU" sz="1600" b="1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Мавлюкова</a:t>
            </a:r>
            <a:r>
              <a:rPr lang="ru-RU" sz="1600" b="1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Милана</a:t>
            </a:r>
            <a:endParaRPr sz="1600" b="1"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611880" y="3886199"/>
            <a:ext cx="2560320" cy="1737361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656878" y="4069080"/>
            <a:ext cx="247032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Практический</a:t>
            </a:r>
            <a:r>
              <a:rPr sz="1600" b="1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b="1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модуль</a:t>
            </a:r>
            <a:r>
              <a:rPr sz="1600" b="1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и </a:t>
            </a:r>
            <a:r>
              <a:rPr sz="1600" b="1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тестирование</a:t>
            </a:r>
            <a:endParaRPr sz="1600" b="1"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ru-RU" sz="1600" b="1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Фатнев Влад</a:t>
            </a:r>
          </a:p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ru-RU" sz="1600" b="1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Миханов</a:t>
            </a:r>
            <a:r>
              <a:rPr lang="ru-RU" sz="1600" b="1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Александр</a:t>
            </a:r>
          </a:p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ru-RU" sz="1600" b="1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Мавлюкова</a:t>
            </a:r>
            <a:r>
              <a:rPr lang="ru-RU" sz="1600" b="1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Милана</a:t>
            </a:r>
          </a:p>
          <a:p>
            <a:pPr algn="l"/>
            <a:endParaRPr lang="ru-RU" sz="1600" b="1"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sz="1600" b="1"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360920" y="1737360"/>
            <a:ext cx="3840480" cy="3200400"/>
          </a:xfrm>
          <a:prstGeom prst="rect">
            <a:avLst/>
          </a:prstGeom>
          <a:solidFill>
            <a:srgbClr val="E7E6E6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Добавьте фото команды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5257800"/>
            <a:ext cx="35661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500" dirty="0">
                <a:solidFill>
                  <a:srgbClr val="6B728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Они</a:t>
            </a:r>
            <a:r>
              <a:rPr lang="ru-RU" sz="1500" b="0" dirty="0">
                <a:solidFill>
                  <a:srgbClr val="6B728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Просто учатся</a:t>
            </a:r>
            <a:r>
              <a:rPr sz="1500" b="0" dirty="0">
                <a:solidFill>
                  <a:srgbClr val="6B728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0B93C2-C8F5-C597-8869-70D877F53017}"/>
              </a:ext>
            </a:extLst>
          </p:cNvPr>
          <p:cNvSpPr txBox="1"/>
          <p:nvPr/>
        </p:nvSpPr>
        <p:spPr>
          <a:xfrm>
            <a:off x="8258476" y="146304"/>
            <a:ext cx="34458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Состав команды</a:t>
            </a:r>
            <a:endParaRPr sz="2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4023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IT-Lingo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77200" y="146304"/>
            <a:ext cx="3627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Техническое</a:t>
            </a:r>
            <a:r>
              <a:rPr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решение</a:t>
            </a:r>
            <a:endParaRPr sz="2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11480" y="804672"/>
            <a:ext cx="1280160" cy="109728"/>
          </a:xfrm>
          <a:prstGeom prst="rect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1170432"/>
            <a:ext cx="4389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 продукте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91640"/>
            <a:ext cx="365760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IT-Lingo —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это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образовательное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веб-приложение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</a:p>
          <a:p>
            <a:pPr algn="l"/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которое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помогает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новичкам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изучать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основы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IT</a:t>
            </a:r>
          </a:p>
          <a:p>
            <a:pPr algn="l"/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пошаговом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формате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l"/>
            <a:endParaRPr sz="1700" b="0"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Пользователь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проходит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урок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этапам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l"/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теория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тест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и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практика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l"/>
            <a:endParaRPr sz="1700" b="0"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После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прохождения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начисляется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опыт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</a:p>
          <a:p>
            <a:pPr algn="l"/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открываются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достижения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и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растет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7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уровень</a:t>
            </a:r>
            <a:r>
              <a:rPr sz="17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234440"/>
            <a:ext cx="28346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Техническое решение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8686" y="1840349"/>
            <a:ext cx="283464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Веб-приложение</a:t>
            </a:r>
            <a:r>
              <a:rPr sz="160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на</a:t>
            </a:r>
            <a:r>
              <a:rPr sz="160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Flask</a:t>
            </a:r>
          </a:p>
          <a:p>
            <a:pPr>
              <a:spcAft>
                <a:spcPts val="800"/>
              </a:spcAft>
            </a:pPr>
            <a:r>
              <a:rPr sz="160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Система</a:t>
            </a:r>
            <a:r>
              <a:rPr sz="160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авторизации</a:t>
            </a:r>
            <a:r>
              <a:rPr sz="160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и </a:t>
            </a:r>
            <a:r>
              <a:rPr sz="160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личный</a:t>
            </a:r>
            <a:r>
              <a:rPr sz="160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кабинет</a:t>
            </a:r>
            <a:endParaRPr sz="1600"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</a:pPr>
            <a:r>
              <a:rPr sz="160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Модуль</a:t>
            </a:r>
            <a:r>
              <a:rPr sz="160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уроков</a:t>
            </a:r>
            <a:r>
              <a:rPr sz="160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с </a:t>
            </a:r>
            <a:r>
              <a:rPr sz="160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защитой</a:t>
            </a:r>
            <a:r>
              <a:rPr sz="160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последовательности</a:t>
            </a:r>
            <a:endParaRPr sz="1600"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</a:pPr>
            <a:r>
              <a:rPr sz="160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Проверка</a:t>
            </a:r>
            <a:r>
              <a:rPr sz="160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Python-</a:t>
            </a:r>
            <a:r>
              <a:rPr sz="160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кода</a:t>
            </a:r>
            <a:r>
              <a:rPr sz="160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в </a:t>
            </a:r>
            <a:r>
              <a:rPr sz="160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практических</a:t>
            </a:r>
            <a:r>
              <a:rPr sz="160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заданиях</a:t>
            </a:r>
            <a:endParaRPr sz="1600"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543800" y="1234440"/>
            <a:ext cx="2651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Стек разработки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1645920"/>
            <a:ext cx="265176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Python, Flask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Flask-Login, SQLAlchemy, SQLite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HTML, CSS, Jinja2, Bootstrap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Docker, 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3977639"/>
            <a:ext cx="2651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UX/UI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4389119"/>
            <a:ext cx="2651760" cy="1528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Понятный интерфейс для начинающих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Карточки курсов и уроков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Прогресс, достижения и уровни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4023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IT-Lingo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804672"/>
            <a:ext cx="1280160" cy="109728"/>
          </a:xfrm>
          <a:prstGeom prst="rect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1170432"/>
            <a:ext cx="6400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Функциональность продукта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520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43891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 err="1">
                <a:solidFill>
                  <a:srgbClr val="5B9B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Разработка</a:t>
            </a:r>
            <a:r>
              <a:rPr sz="2000" b="1" dirty="0">
                <a:solidFill>
                  <a:srgbClr val="5B9B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b="1" dirty="0" err="1">
                <a:solidFill>
                  <a:srgbClr val="5B9B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обязательного</a:t>
            </a:r>
            <a:r>
              <a:rPr sz="2000" b="1" dirty="0">
                <a:solidFill>
                  <a:srgbClr val="5B9B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b="1" dirty="0" err="1">
                <a:solidFill>
                  <a:srgbClr val="5B9B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функционала</a:t>
            </a:r>
            <a:endParaRPr sz="2000" b="1" dirty="0">
              <a:solidFill>
                <a:srgbClr val="5B9BD5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14400" y="2423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4572000" cy="2441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Регистрация</a:t>
            </a:r>
            <a:r>
              <a:rPr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и </a:t>
            </a: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авторизация</a:t>
            </a:r>
            <a:r>
              <a:rPr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пользователей</a:t>
            </a:r>
            <a:endParaRPr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</a:pP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Личный</a:t>
            </a:r>
            <a:r>
              <a:rPr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кабинет</a:t>
            </a:r>
            <a:r>
              <a:rPr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с </a:t>
            </a: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уровнем</a:t>
            </a:r>
            <a:r>
              <a:rPr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и </a:t>
            </a: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опытом</a:t>
            </a:r>
            <a:endParaRPr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</a:pP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Список</a:t>
            </a:r>
            <a:r>
              <a:rPr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</a:t>
            </a:r>
            <a:r>
              <a:rPr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и </a:t>
            </a: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уроков</a:t>
            </a:r>
            <a:endParaRPr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</a:pP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Теория</a:t>
            </a:r>
            <a:r>
              <a:rPr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тесты</a:t>
            </a:r>
            <a:r>
              <a:rPr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и </a:t>
            </a: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практика</a:t>
            </a:r>
            <a:r>
              <a:rPr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внутри</a:t>
            </a:r>
            <a:r>
              <a:rPr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урока</a:t>
            </a:r>
            <a:endParaRPr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</a:pP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Поэтапное</a:t>
            </a:r>
            <a:r>
              <a:rPr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прохождение</a:t>
            </a:r>
            <a:r>
              <a:rPr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без</a:t>
            </a:r>
            <a:r>
              <a:rPr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пропуска</a:t>
            </a:r>
            <a:r>
              <a:rPr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шагов</a:t>
            </a:r>
            <a:endParaRPr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17920" y="1828800"/>
            <a:ext cx="5257800" cy="3520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46520" y="2011680"/>
            <a:ext cx="44805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 err="1">
                <a:solidFill>
                  <a:srgbClr val="ED7D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Разработка</a:t>
            </a:r>
            <a:r>
              <a:rPr sz="2000" b="1" dirty="0">
                <a:solidFill>
                  <a:srgbClr val="ED7D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b="1" dirty="0" err="1">
                <a:solidFill>
                  <a:srgbClr val="ED7D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дополнительного</a:t>
            </a:r>
            <a:r>
              <a:rPr sz="2000" b="1" dirty="0">
                <a:solidFill>
                  <a:srgbClr val="ED7D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b="1" dirty="0" err="1">
                <a:solidFill>
                  <a:srgbClr val="ED7D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функционала</a:t>
            </a:r>
            <a:endParaRPr sz="2000" b="1" dirty="0">
              <a:solidFill>
                <a:srgbClr val="ED7D3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46520" y="2514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46520" y="2926080"/>
            <a:ext cx="4572000" cy="2441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Достижения за прохождение тестов</a:t>
            </a:r>
          </a:p>
          <a:p>
            <a:pPr>
              <a:spcAft>
                <a:spcPts val="800"/>
              </a:spcAft>
            </a:pPr>
            <a:r>
              <a:rPr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Toast-уведомления о наградах</a:t>
            </a:r>
          </a:p>
          <a:p>
            <a:pPr>
              <a:spcAft>
                <a:spcPts val="800"/>
              </a:spcAft>
            </a:pPr>
            <a:r>
              <a:rPr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Геймификация через XP и уровни</a:t>
            </a:r>
          </a:p>
          <a:p>
            <a:pPr>
              <a:spcAft>
                <a:spcPts val="800"/>
              </a:spcAft>
            </a:pPr>
            <a:r>
              <a:rPr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Проверка вывода кода в практических заданиях</a:t>
            </a:r>
          </a:p>
          <a:p>
            <a:pPr>
              <a:spcAft>
                <a:spcPts val="800"/>
              </a:spcAft>
            </a:pPr>
            <a:r>
              <a:rPr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Расширяемая структура для новых курсов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371336-C143-BF92-D76A-CBB792D20235}"/>
              </a:ext>
            </a:extLst>
          </p:cNvPr>
          <p:cNvSpPr txBox="1"/>
          <p:nvPr/>
        </p:nvSpPr>
        <p:spPr>
          <a:xfrm>
            <a:off x="8077200" y="146304"/>
            <a:ext cx="3627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Техническое</a:t>
            </a:r>
            <a:r>
              <a:rPr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решение</a:t>
            </a:r>
            <a:endParaRPr sz="2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4023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IT-Lingo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804672"/>
            <a:ext cx="1280160" cy="109728"/>
          </a:xfrm>
          <a:prstGeom prst="rect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1170432"/>
            <a:ext cx="6400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Уникальность и особенности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858768"/>
          </a:xfrm>
          <a:prstGeom prst="round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2103120"/>
            <a:ext cx="4572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Уникальность</a:t>
            </a:r>
            <a:endParaRPr sz="2200" b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60120" y="2606040"/>
            <a:ext cx="452628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Обучение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построено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в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формате</a:t>
            </a:r>
            <a:endParaRPr sz="1800" b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последовательного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маршрута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l"/>
            <a:endParaRPr sz="1800" b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Пользователь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не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перескакивает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через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важные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темы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l"/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сначала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изучает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теорию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затем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проходит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тест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</a:p>
          <a:p>
            <a:pPr algn="l"/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только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после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этого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открывает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практику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l"/>
            <a:endParaRPr sz="1800" b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Это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помогает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лучше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усваивать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материал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257800" cy="3858768"/>
          </a:xfrm>
          <a:prstGeom prst="roundRect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92240" y="2103120"/>
            <a:ext cx="4572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Особенности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06040"/>
            <a:ext cx="4526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Геймификация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через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опыт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и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уровни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l"/>
            <a:endParaRPr sz="1800" b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Достижения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прохождение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тестов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l"/>
            <a:endParaRPr sz="1800" b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Интерактивная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практика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с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запуском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Python-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кода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l"/>
            <a:endParaRPr sz="1800" b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Понятный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интерфейс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для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начинающих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пользователей</a:t>
            </a:r>
            <a:r>
              <a:rPr sz="1800" b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2CB317-B292-F5FF-F274-8D78CB3E98D4}"/>
              </a:ext>
            </a:extLst>
          </p:cNvPr>
          <p:cNvSpPr txBox="1"/>
          <p:nvPr/>
        </p:nvSpPr>
        <p:spPr>
          <a:xfrm>
            <a:off x="8258476" y="146304"/>
            <a:ext cx="34458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Уникальность</a:t>
            </a:r>
            <a:endParaRPr sz="2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4023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IT-Lingo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804672"/>
            <a:ext cx="1280160" cy="109728"/>
          </a:xfrm>
          <a:prstGeom prst="rect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1170432"/>
            <a:ext cx="5943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Конкурентное преимущество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459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IT-Lingo объединяет учебный контент, проверку знаний и практику в одном простом интерфейсе.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240280"/>
            <a:ext cx="5166360" cy="29260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28700" y="2305734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ED7D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IT-Lingo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26080"/>
            <a:ext cx="452628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</a:t>
            </a:r>
            <a:r>
              <a:rPr sz="19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Пошаговое</a:t>
            </a:r>
            <a:r>
              <a:rPr sz="19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9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прохождение</a:t>
            </a:r>
            <a:r>
              <a:rPr sz="19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9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урока</a:t>
            </a:r>
            <a:endParaRPr sz="1900" b="0"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sz="19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</a:t>
            </a:r>
            <a:r>
              <a:rPr sz="19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Теория</a:t>
            </a:r>
            <a:r>
              <a:rPr sz="19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9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тест</a:t>
            </a:r>
            <a:r>
              <a:rPr sz="19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и </a:t>
            </a:r>
            <a:r>
              <a:rPr sz="19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практика</a:t>
            </a:r>
            <a:r>
              <a:rPr sz="19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9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вместе</a:t>
            </a:r>
            <a:endParaRPr sz="1900" b="0"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sz="19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</a:t>
            </a:r>
            <a:r>
              <a:rPr sz="19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Уровни</a:t>
            </a:r>
            <a:r>
              <a:rPr sz="19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XP и </a:t>
            </a:r>
            <a:r>
              <a:rPr sz="19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достижения</a:t>
            </a:r>
            <a:endParaRPr sz="1900" b="0"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sz="19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</a:t>
            </a:r>
            <a:r>
              <a:rPr sz="19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Удобно</a:t>
            </a:r>
            <a:r>
              <a:rPr sz="19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9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для</a:t>
            </a:r>
            <a:r>
              <a:rPr sz="19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9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новичков</a:t>
            </a:r>
            <a:r>
              <a:rPr sz="1900" b="0" dirty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и </a:t>
            </a:r>
            <a:r>
              <a:rPr sz="1900" b="0" dirty="0" err="1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школьников</a:t>
            </a:r>
            <a:endParaRPr sz="1900" b="0" dirty="0">
              <a:solidFill>
                <a:srgbClr val="2F3B4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63640" y="2240280"/>
            <a:ext cx="5166360" cy="29260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560820" y="2468879"/>
            <a:ext cx="4572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dirty="0" err="1">
                <a:solidFill>
                  <a:srgbClr val="5B9B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Обычные</a:t>
            </a:r>
            <a:r>
              <a:rPr sz="2200" b="1" dirty="0">
                <a:solidFill>
                  <a:srgbClr val="5B9B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dirty="0" err="1">
                <a:solidFill>
                  <a:srgbClr val="5B9B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обучающие</a:t>
            </a:r>
            <a:r>
              <a:rPr sz="2200" b="1" dirty="0">
                <a:solidFill>
                  <a:srgbClr val="5B9B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dirty="0" err="1">
                <a:solidFill>
                  <a:srgbClr val="5B9B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решения</a:t>
            </a:r>
            <a:endParaRPr sz="2200" b="1" dirty="0">
              <a:solidFill>
                <a:srgbClr val="5B9BD5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537960" y="2926080"/>
            <a:ext cx="4526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Часто дают только теорию</a:t>
            </a:r>
          </a:p>
          <a:p>
            <a:pPr algn="l"/>
            <a:r>
              <a:rPr sz="1900" b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Не всегда есть практика в одном окне</a:t>
            </a:r>
          </a:p>
          <a:p>
            <a:pPr algn="l"/>
            <a:r>
              <a:rPr sz="1900" b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Слабая геймификация</a:t>
            </a:r>
          </a:p>
          <a:p>
            <a:pPr algn="l"/>
            <a:r>
              <a:rPr sz="1900" b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Сложнее удерживать внимание новичка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7F00B2-8874-745B-A546-F01DFE756072}"/>
              </a:ext>
            </a:extLst>
          </p:cNvPr>
          <p:cNvSpPr txBox="1"/>
          <p:nvPr/>
        </p:nvSpPr>
        <p:spPr>
          <a:xfrm>
            <a:off x="7058025" y="146304"/>
            <a:ext cx="46462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Конкурентное преимущество</a:t>
            </a:r>
            <a:endParaRPr sz="2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4023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IT-Lingo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804672"/>
            <a:ext cx="1280160" cy="109728"/>
          </a:xfrm>
          <a:prstGeom prst="rect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1170432"/>
            <a:ext cx="5852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Перспективы развития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45920"/>
            <a:ext cx="10789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Проект можно развивать как полноценную образовательную IT-платформу для школьников и начинающих.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23160"/>
            <a:ext cx="3291840" cy="2606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960120" y="2606040"/>
            <a:ext cx="914400" cy="384048"/>
          </a:xfrm>
          <a:prstGeom prst="round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24712" y="2706624"/>
            <a:ext cx="640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этап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54680"/>
            <a:ext cx="2743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Расширение курсов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27432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Добавить C#, HTML/CSS, JavaScript и новые модули с уроками.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423160"/>
            <a:ext cx="3291840" cy="2606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754880" y="2606040"/>
            <a:ext cx="914400" cy="384048"/>
          </a:xfrm>
          <a:prstGeom prst="roundRect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919472" y="2706624"/>
            <a:ext cx="640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этап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154680"/>
            <a:ext cx="2743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Умная практика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3611880"/>
            <a:ext cx="27432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Сделать более точную проверку решений, терминал и аналитику ошибок.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2423160"/>
            <a:ext cx="3291840" cy="2606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549640" y="2606040"/>
            <a:ext cx="914400" cy="384048"/>
          </a:xfrm>
          <a:prstGeom prst="round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714232" y="2706624"/>
            <a:ext cx="640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этап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3154680"/>
            <a:ext cx="2743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Масштабирование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3611880"/>
            <a:ext cx="27432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F3B4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Добавить рейтинги, систему модулей, преподавательский режим и аналитику прогресса.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5CB526E-DB7C-2A2A-AF40-5EBC7CF4CC36}"/>
              </a:ext>
            </a:extLst>
          </p:cNvPr>
          <p:cNvSpPr txBox="1"/>
          <p:nvPr/>
        </p:nvSpPr>
        <p:spPr>
          <a:xfrm>
            <a:off x="8001001" y="146304"/>
            <a:ext cx="37033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Перспективы развития</a:t>
            </a:r>
            <a:endParaRPr sz="2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128016"/>
          </a:xfrm>
          <a:prstGeom prst="rect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IT-Lingo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10332720" cy="3840480"/>
          </a:xfrm>
          <a:prstGeom prst="roundRect">
            <a:avLst/>
          </a:prstGeom>
          <a:solidFill>
            <a:srgbClr val="F4F6F8"/>
          </a:solidFill>
          <a:ln w="2286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63040" y="2298710"/>
            <a:ext cx="91440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b="1" dirty="0">
                <a:solidFill>
                  <a:srgbClr val="ED7D31"/>
                </a:solidFill>
                <a:latin typeface="Aptos"/>
              </a:rPr>
              <a:t>СПАСИБО</a:t>
            </a:r>
            <a:r>
              <a:rPr sz="2800" b="1" dirty="0">
                <a:solidFill>
                  <a:srgbClr val="ED7D31"/>
                </a:solidFill>
                <a:latin typeface="Aptos"/>
              </a:rPr>
              <a:t> </a:t>
            </a:r>
            <a:r>
              <a:rPr lang="ru-RU" sz="2800" b="1" dirty="0">
                <a:solidFill>
                  <a:srgbClr val="ED7D31"/>
                </a:solidFill>
                <a:latin typeface="Aptos"/>
              </a:rPr>
              <a:t>ЗА ВНИМАНИЕ</a:t>
            </a:r>
            <a:r>
              <a:rPr sz="2800" b="1" dirty="0">
                <a:solidFill>
                  <a:srgbClr val="ED7D31"/>
                </a:solidFill>
                <a:latin typeface="Aptos"/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926080"/>
            <a:ext cx="8778240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44546A"/>
                </a:solidFill>
                <a:latin typeface="Aptos"/>
              </a:rPr>
              <a:t>Мы представили проект IT-</a:t>
            </a:r>
            <a:r>
              <a:rPr lang="ru-RU" sz="2000" b="1" dirty="0" err="1">
                <a:solidFill>
                  <a:srgbClr val="44546A"/>
                </a:solidFill>
                <a:latin typeface="Aptos"/>
              </a:rPr>
              <a:t>Lingo</a:t>
            </a:r>
            <a:r>
              <a:rPr lang="ru-RU" sz="2000" b="1" dirty="0">
                <a:solidFill>
                  <a:srgbClr val="44546A"/>
                </a:solidFill>
                <a:latin typeface="Aptos"/>
              </a:rPr>
              <a:t> — платформу для поэтапного изучения IT и программирования.</a:t>
            </a:r>
            <a:endParaRPr lang="en-US" sz="2000" b="1" dirty="0">
              <a:solidFill>
                <a:srgbClr val="44546A"/>
              </a:solidFill>
              <a:latin typeface="Aptos"/>
            </a:endParaRPr>
          </a:p>
          <a:p>
            <a:pPr algn="ctr"/>
            <a:r>
              <a:rPr lang="ru-RU" sz="1800" dirty="0">
                <a:solidFill>
                  <a:srgbClr val="44546A"/>
                </a:solidFill>
                <a:latin typeface="Aptos"/>
              </a:rPr>
              <a:t>Готовы ответить на ваши вопросы.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69080" y="4709160"/>
            <a:ext cx="4023360" cy="640080"/>
          </a:xfrm>
          <a:prstGeom prst="roundRect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8240" y="4842748"/>
            <a:ext cx="213552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ru-RU" sz="1800" b="1" dirty="0">
                <a:solidFill>
                  <a:srgbClr val="FFFFFF"/>
                </a:solidFill>
                <a:latin typeface="Aptos"/>
              </a:rPr>
              <a:t>Команда «Пафос»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463</Words>
  <Application>Microsoft Office PowerPoint</Application>
  <PresentationFormat>Широкоэкранный</PresentationFormat>
  <Paragraphs>121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Aptos</vt:lpstr>
      <vt:lpstr>Arial</vt:lpstr>
      <vt:lpstr>Calibri</vt:lpstr>
      <vt:lpstr>Wingdings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Влад Фатнев</dc:creator>
  <cp:keywords/>
  <dc:description>generated using python-pptx</dc:description>
  <cp:lastModifiedBy>Влад Фатнев</cp:lastModifiedBy>
  <cp:revision>5</cp:revision>
  <dcterms:created xsi:type="dcterms:W3CDTF">2013-01-27T09:14:16Z</dcterms:created>
  <dcterms:modified xsi:type="dcterms:W3CDTF">2026-03-28T17:25:31Z</dcterms:modified>
  <cp:category/>
</cp:coreProperties>
</file>